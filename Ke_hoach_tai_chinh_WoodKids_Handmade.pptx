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-672" y="-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46614"/>
                </a:solidFill>
              </a:defRPr>
            </a:pPr>
            <a:r>
              <a:t>3.6. KẾ HOẠCH TÀI CHÍNH &amp; VỐN KHỞI NGHIỆP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Dự án: Đồ chơi trẻ em gỗ an toàn handmade – WoodKids Handmade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▪ Doanh thu dự kiến: 1,168 tỷ VNĐ/năm</a:t>
            </a:r>
          </a:p>
          <a:p>
            <a:pPr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▪ Tổng chi phí dự kiến: 862,964 triệu VNĐ/năm</a:t>
            </a:r>
          </a:p>
          <a:p>
            <a:pPr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▪ Lợi nhuận dự kiến: 305,390 triệu VNĐ/năm</a:t>
            </a:r>
          </a:p>
          <a:p>
            <a:pPr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▪ Vốn đầu tư ban đầu: khoảng 500 triệu VNĐ</a:t>
            </a:r>
          </a:p>
          <a:p>
            <a:pPr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▪ ROI năm đầu: khoảng 61,08%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46614"/>
                </a:solidFill>
              </a:defRPr>
            </a:pPr>
            <a:r>
              <a:t>DOANH THU – CHI PHÍ – LỢI NHUẬN DỰ KIẾN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Kế hoạch tài chính trong 12 tháng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3383280" cy="1645920"/>
          </a:xfrm>
          <a:prstGeom prst="roundRect">
            <a:avLst/>
          </a:prstGeom>
          <a:solidFill>
            <a:srgbClr val="F8F8F8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463039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D2D2D"/>
                </a:solidFill>
              </a:defRPr>
            </a:pPr>
            <a:r>
              <a:t>TỔNG DOANH THU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892807"/>
            <a:ext cx="3017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2D2D2D"/>
                </a:solidFill>
              </a:defRPr>
            </a:pPr>
            <a:r>
              <a:t>1,168,354,000 VNĐ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404872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D2D2D"/>
                </a:solidFill>
              </a:defRPr>
            </a:pPr>
            <a:r>
              <a:t>12 tháng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25880"/>
            <a:ext cx="3383280" cy="1645920"/>
          </a:xfrm>
          <a:prstGeom prst="roundRect">
            <a:avLst/>
          </a:prstGeom>
          <a:solidFill>
            <a:srgbClr val="F8F8F8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0" y="1463039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D2D2D"/>
                </a:solidFill>
              </a:defRPr>
            </a:pPr>
            <a:r>
              <a:t>TỔNG CHI PHÍ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892807"/>
            <a:ext cx="3017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2D2D2D"/>
                </a:solidFill>
              </a:defRPr>
            </a:pPr>
            <a:r>
              <a:t>862,964,000 VNĐ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404872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D2D2D"/>
                </a:solidFill>
              </a:defRPr>
            </a:pPr>
            <a:r>
              <a:t>12 tháng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325880"/>
            <a:ext cx="3383280" cy="1645920"/>
          </a:xfrm>
          <a:prstGeom prst="roundRect">
            <a:avLst/>
          </a:prstGeom>
          <a:solidFill>
            <a:srgbClr val="F8F8F8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75319" y="1463039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D2D2D"/>
                </a:solidFill>
              </a:defRPr>
            </a:pPr>
            <a:r>
              <a:t>LỢI NHUẬN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19" y="1892807"/>
            <a:ext cx="3017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269156"/>
                </a:solidFill>
              </a:defRPr>
            </a:pPr>
            <a:r>
              <a:t>305,390,000 VNĐ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19" y="2404872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D2D2D"/>
                </a:solidFill>
              </a:defRPr>
            </a:pPr>
            <a:r>
              <a:t>12 tháng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429000"/>
            <a:ext cx="107899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D2D2D"/>
                </a:solidFill>
              </a:defRPr>
            </a:pPr>
            <a:r>
              <a:t>▪ Doanh thu cao nhất: Tháng 9 – 110,671 triệu VNĐ</a:t>
            </a:r>
          </a:p>
          <a:p>
            <a:pPr>
              <a:spcAft>
                <a:spcPts val="1000"/>
              </a:spcAft>
              <a:defRPr sz="1700">
                <a:solidFill>
                  <a:srgbClr val="2D2D2D"/>
                </a:solidFill>
              </a:defRPr>
            </a:pPr>
            <a:r>
              <a:t>▪ Chi phí cao nhất: Tháng 6 – 79,434 triệu VNĐ</a:t>
            </a:r>
          </a:p>
          <a:p>
            <a:pPr>
              <a:spcAft>
                <a:spcPts val="1000"/>
              </a:spcAft>
              <a:defRPr sz="1700">
                <a:solidFill>
                  <a:srgbClr val="2D2D2D"/>
                </a:solidFill>
              </a:defRPr>
            </a:pPr>
            <a:r>
              <a:t>▪ Lợi nhuận cao nhất: Tháng 12 – 37,349 triệu VNĐ</a:t>
            </a:r>
          </a:p>
          <a:p>
            <a:pPr>
              <a:spcAft>
                <a:spcPts val="1000"/>
              </a:spcAft>
              <a:defRPr sz="1700">
                <a:solidFill>
                  <a:srgbClr val="2D2D2D"/>
                </a:solidFill>
              </a:defRPr>
            </a:pPr>
            <a:r>
              <a:t>▪ Các sản phẩm chủ lực: Ngựa bập bênh, Xe tập đi gỗ, Bảng chữ cái nổi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46614"/>
                </a:solidFill>
              </a:defRPr>
            </a:pPr>
            <a:r>
              <a:t>VỐN KHỞI NGHIỆP &amp; ROI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Nguồn vốn và hiệu quả đầu tư của dự án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3383280" cy="1645920"/>
          </a:xfrm>
          <a:prstGeom prst="roundRect">
            <a:avLst/>
          </a:prstGeom>
          <a:solidFill>
            <a:srgbClr val="F8F8F8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463039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D2D2D"/>
                </a:solidFill>
              </a:defRPr>
            </a:pPr>
            <a:r>
              <a:t>VỐN CỐ ĐỊNH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892807"/>
            <a:ext cx="3017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2D2D2D"/>
                </a:solidFill>
              </a:defRPr>
            </a:pPr>
            <a:r>
              <a:t>298,5 triệu VNĐ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404872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D2D2D"/>
                </a:solidFill>
              </a:defRPr>
            </a:pPr>
            <a:r>
              <a:t>Setup + máy móc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25880"/>
            <a:ext cx="3383280" cy="1645920"/>
          </a:xfrm>
          <a:prstGeom prst="roundRect">
            <a:avLst/>
          </a:prstGeom>
          <a:solidFill>
            <a:srgbClr val="F8F8F8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0" y="1463039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D2D2D"/>
                </a:solidFill>
              </a:defRPr>
            </a:pPr>
            <a:r>
              <a:t>VỐN LƯU ĐỘNG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892807"/>
            <a:ext cx="3017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2D2D2D"/>
                </a:solidFill>
              </a:defRPr>
            </a:pPr>
            <a:r>
              <a:t>199,4 triệu VNĐ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404872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D2D2D"/>
                </a:solidFill>
              </a:defRPr>
            </a:pPr>
            <a:r>
              <a:t>Dự kiến cho 3 tháng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325880"/>
            <a:ext cx="3383280" cy="1645920"/>
          </a:xfrm>
          <a:prstGeom prst="roundRect">
            <a:avLst/>
          </a:prstGeom>
          <a:solidFill>
            <a:srgbClr val="F8F8F8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75319" y="1463039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D2D2D"/>
                </a:solidFill>
              </a:defRPr>
            </a:pPr>
            <a:r>
              <a:t>TỔNG VỐN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19" y="1892807"/>
            <a:ext cx="3017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2D2D2D"/>
                </a:solidFill>
              </a:defRPr>
            </a:pPr>
            <a:r>
              <a:t>497,9 triệu VNĐ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19" y="2404872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D2D2D"/>
                </a:solidFill>
              </a:defRPr>
            </a:pPr>
            <a:r>
              <a:t>Làm tròn ~500 triệu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4290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2D2D2D"/>
                </a:solidFill>
              </a:defRPr>
            </a:pPr>
            <a:r>
              <a:t>▪ Vốn tự có của nhóm sáng lập: 300 triệu VNĐ</a:t>
            </a:r>
          </a:p>
          <a:p>
            <a:pPr>
              <a:spcAft>
                <a:spcPts val="1100"/>
              </a:spcAft>
              <a:defRPr sz="1800">
                <a:solidFill>
                  <a:srgbClr val="2D2D2D"/>
                </a:solidFill>
              </a:defRPr>
            </a:pPr>
            <a:r>
              <a:t>▪ Vốn vay/người thân – bạn bè: 200 triệu VNĐ</a:t>
            </a:r>
          </a:p>
          <a:p>
            <a:pPr>
              <a:spcAft>
                <a:spcPts val="1100"/>
              </a:spcAft>
              <a:defRPr sz="1800">
                <a:solidFill>
                  <a:srgbClr val="2D2D2D"/>
                </a:solidFill>
              </a:defRPr>
            </a:pPr>
            <a:r>
              <a:t>▪ Lợi nhuận ròng năm đầu: 305,390 triệu VNĐ</a:t>
            </a:r>
          </a:p>
          <a:p>
            <a:pPr>
              <a:spcAft>
                <a:spcPts val="1100"/>
              </a:spcAft>
              <a:defRPr sz="1800">
                <a:solidFill>
                  <a:srgbClr val="2D2D2D"/>
                </a:solidFill>
              </a:defRPr>
            </a:pPr>
            <a:r>
              <a:t>▪ ROI = (305,390 / 500) × 100% ≈ 61,08%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257</Words>
  <Application>Microsoft Office PowerPoint</Application>
  <PresentationFormat>Custom</PresentationFormat>
  <Paragraphs>37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Vinacom</dc:creator>
  <dc:description>generated using python-pptx</dc:description>
  <cp:lastModifiedBy>Vinacom</cp:lastModifiedBy>
  <cp:revision>2</cp:revision>
  <dcterms:created xsi:type="dcterms:W3CDTF">2013-01-27T09:14:16Z</dcterms:created>
  <dcterms:modified xsi:type="dcterms:W3CDTF">2026-08-13T16:23:12Z</dcterms:modified>
</cp:coreProperties>
</file>