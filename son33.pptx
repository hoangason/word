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724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B641E"/>
                </a:solidFill>
              </a:defRPr>
            </a:pPr>
            <a:r>
              <a:t>FPT POLYTECHNIC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47472"/>
            <a:ext cx="7680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D0000"/>
                </a:solidFill>
              </a:defRPr>
            </a:pPr>
            <a:r>
              <a:t>Lợi nhuận, Vốn khởi</a:t>
            </a:r>
            <a:br/>
            <a:r>
              <a:t>nghiệp &amp; Cơ cấu nguồn</a:t>
            </a:r>
            <a:br/>
            <a:r>
              <a:t>vốn</a:t>
            </a:r>
          </a:p>
        </p:txBody>
      </p:sp>
      <p:sp>
        <p:nvSpPr>
          <p:cNvPr id="4" name="Rectangle 3"/>
          <p:cNvSpPr/>
          <p:nvPr/>
        </p:nvSpPr>
        <p:spPr>
          <a:xfrm>
            <a:off x="9372600" y="0"/>
            <a:ext cx="2819095" cy="5394960"/>
          </a:xfrm>
          <a:prstGeom prst="rect">
            <a:avLst/>
          </a:prstGeom>
          <a:solidFill>
            <a:srgbClr val="BE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0" y="1856231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</a:defRPr>
            </a:pPr>
            <a:r>
              <a:t>Tóm tắt tài chính năm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2240280"/>
            <a:ext cx="3429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</a:defRPr>
            </a:pPr>
            <a:r>
              <a:t>• Lợi nhuận năm 1: 305,39 triệu đồng</a:t>
            </a:r>
          </a:p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</a:defRPr>
            </a:pPr>
            <a:r>
              <a:t>• Vốn khởi nghiệp: 500 triệu đồng</a:t>
            </a:r>
          </a:p>
          <a:p>
            <a:pPr>
              <a:spcAft>
                <a:spcPts val="900"/>
              </a:spcAft>
              <a:defRPr sz="1400">
                <a:solidFill>
                  <a:srgbClr val="191919"/>
                </a:solidFill>
              </a:defRPr>
            </a:pPr>
            <a:r>
              <a:t>• Tỷ suất lợi nhuận/vốn đầu tư: 61,08%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39776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</a:defRPr>
            </a:pPr>
            <a:r>
              <a:t>Nguồn vốn &amp; Nhận xét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4370832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191919"/>
                </a:solidFill>
              </a:defRPr>
            </a:pPr>
            <a:r>
              <a:t>• Nguồn vốn: Góp vốn của 4 thành viên</a:t>
            </a:r>
          </a:p>
          <a:p>
            <a:pPr>
              <a:spcAft>
                <a:spcPts val="800"/>
              </a:spcAft>
              <a:defRPr sz="1320">
                <a:solidFill>
                  <a:srgbClr val="191919"/>
                </a:solidFill>
              </a:defRPr>
            </a:pPr>
            <a:r>
              <a:t>• Tổng vốn góp: 500 triệu đồng</a:t>
            </a:r>
          </a:p>
          <a:p>
            <a:pPr>
              <a:spcAft>
                <a:spcPts val="800"/>
              </a:spcAft>
              <a:defRPr sz="1320">
                <a:solidFill>
                  <a:srgbClr val="191919"/>
                </a:solidFill>
              </a:defRPr>
            </a:pPr>
            <a:r>
              <a:t>• Nhận xét: Dự án có lợi nhuận dương, khả năng sinh lời tốt.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1810512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Vốn góp thành viên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2194560"/>
            <a:ext cx="224028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FFFFFF"/>
                </a:solidFill>
              </a:defRPr>
            </a:pPr>
            <a:r>
              <a:t>• </a:t>
            </a:r>
            <a:r>
              <a:rPr/>
              <a:t>Ngọc </a:t>
            </a:r>
            <a:r>
              <a:rPr smtClean="0"/>
              <a:t>Hoàng</a:t>
            </a:r>
            <a:r>
              <a:rPr lang="en-US" smtClean="0"/>
              <a:t> Đan Vy</a:t>
            </a:r>
            <a:r>
              <a:rPr smtClean="0"/>
              <a:t>: </a:t>
            </a:r>
            <a:r>
              <a:t>100 triệu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</a:defRPr>
            </a:pPr>
            <a:r>
              <a:rPr smtClean="0"/>
              <a:t>• </a:t>
            </a:r>
            <a:r>
              <a:t>Nguyễn Hoàng Sơn: 100 triệu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</a:defRPr>
            </a:pPr>
            <a:r>
              <a:t>• Lại Huy Dũng: 100 triệu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</a:defRPr>
            </a:pPr>
            <a:r>
              <a:t>• Nguyễn Thế Huy: 100 triệu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Đơn vị: triệu đồng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97480"/>
            <a:ext cx="4526280" cy="3337560"/>
          </a:xfrm>
          <a:prstGeom prst="roundRect">
            <a:avLst/>
          </a:prstGeom>
          <a:solidFill>
            <a:srgbClr val="F8F4EB"/>
          </a:solidFill>
          <a:ln w="50800">
            <a:solidFill>
              <a:srgbClr val="EEA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325880" y="5257800"/>
            <a:ext cx="2834640" cy="347472"/>
          </a:xfrm>
          <a:prstGeom prst="roundRect">
            <a:avLst/>
          </a:prstGeom>
          <a:solidFill>
            <a:srgbClr val="CDA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914400" cy="777240"/>
          </a:xfrm>
          <a:prstGeom prst="roundRect">
            <a:avLst/>
          </a:prstGeom>
          <a:solidFill>
            <a:srgbClr val="EEA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057400" y="3886200"/>
            <a:ext cx="1005840" cy="1325880"/>
          </a:xfrm>
          <a:prstGeom prst="roundRect">
            <a:avLst/>
          </a:prstGeom>
          <a:solidFill>
            <a:srgbClr val="809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71800" y="4343400"/>
            <a:ext cx="1005840" cy="868680"/>
          </a:xfrm>
          <a:prstGeom prst="roundRect">
            <a:avLst/>
          </a:prstGeom>
          <a:solidFill>
            <a:srgbClr val="DC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554480" y="3429000"/>
            <a:ext cx="960120" cy="685800"/>
          </a:xfrm>
          <a:prstGeom prst="roundRect">
            <a:avLst/>
          </a:prstGeom>
          <a:solidFill>
            <a:srgbClr val="5A9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743200" y="3337560"/>
            <a:ext cx="960120" cy="685800"/>
          </a:xfrm>
          <a:prstGeom prst="roundRect">
            <a:avLst/>
          </a:prstGeom>
          <a:solidFill>
            <a:srgbClr val="EBB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240280" y="2926080"/>
            <a:ext cx="594360" cy="594360"/>
          </a:xfrm>
          <a:prstGeom prst="ellipse">
            <a:avLst/>
          </a:prstGeom>
          <a:solidFill>
            <a:srgbClr val="DC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240280" y="2651760"/>
            <a:ext cx="594360" cy="594360"/>
          </a:xfrm>
          <a:prstGeom prst="ellipse">
            <a:avLst/>
          </a:prstGeom>
          <a:solidFill>
            <a:srgbClr val="809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28163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94636"/>
                </a:solidFill>
              </a:defRPr>
            </a:pPr>
            <a:r>
              <a:t>🧸 TINY TOY WOOD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14476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94636"/>
                </a:solidFill>
              </a:defRPr>
            </a:pPr>
            <a:r>
              <a:t>Đồ chơi trẻ em • An toàn • Giáo dục • Sáng tạo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135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Vinacom</dc:creator>
  <dc:description>generated using python-pptx</dc:description>
  <cp:lastModifiedBy>Vinacom</cp:lastModifiedBy>
  <cp:revision>2</cp:revision>
  <dcterms:created xsi:type="dcterms:W3CDTF">2013-01-27T09:14:16Z</dcterms:created>
  <dcterms:modified xsi:type="dcterms:W3CDTF">2026-08-13T16:07:33Z</dcterms:modified>
</cp:coreProperties>
</file>